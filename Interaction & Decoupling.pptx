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60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ruta Deshpande" userId="785e4c8de5c584d9" providerId="LiveId" clId="{9D9164E9-2A41-46A7-9707-4556E34176B5}"/>
    <pc:docChg chg="undo custSel modSld">
      <pc:chgData name="Amruta Deshpande" userId="785e4c8de5c584d9" providerId="LiveId" clId="{9D9164E9-2A41-46A7-9707-4556E34176B5}" dt="2026-10-15T09:32:58.020" v="25" actId="20577"/>
      <pc:docMkLst>
        <pc:docMk/>
      </pc:docMkLst>
      <pc:sldChg chg="modSp mod">
        <pc:chgData name="Amruta Deshpande" userId="785e4c8de5c584d9" providerId="LiveId" clId="{9D9164E9-2A41-46A7-9707-4556E34176B5}" dt="2026-10-15T09:30:29.964" v="7" actId="688"/>
        <pc:sldMkLst>
          <pc:docMk/>
          <pc:sldMk cId="3412463732" sldId="264"/>
        </pc:sldMkLst>
        <pc:picChg chg="mod">
          <ac:chgData name="Amruta Deshpande" userId="785e4c8de5c584d9" providerId="LiveId" clId="{9D9164E9-2A41-46A7-9707-4556E34176B5}" dt="2026-10-15T09:30:29.964" v="7" actId="688"/>
          <ac:picMkLst>
            <pc:docMk/>
            <pc:sldMk cId="3412463732" sldId="264"/>
            <ac:picMk id="5" creationId="{47AB2B25-B04A-06B2-4DB2-A111E4A98545}"/>
          </ac:picMkLst>
        </pc:picChg>
      </pc:sldChg>
      <pc:sldChg chg="addSp modSp mod">
        <pc:chgData name="Amruta Deshpande" userId="785e4c8de5c584d9" providerId="LiveId" clId="{9D9164E9-2A41-46A7-9707-4556E34176B5}" dt="2026-10-15T09:32:58.020" v="25" actId="20577"/>
        <pc:sldMkLst>
          <pc:docMk/>
          <pc:sldMk cId="3590843002" sldId="267"/>
        </pc:sldMkLst>
        <pc:spChg chg="mod">
          <ac:chgData name="Amruta Deshpande" userId="785e4c8de5c584d9" providerId="LiveId" clId="{9D9164E9-2A41-46A7-9707-4556E34176B5}" dt="2026-10-15T09:32:58.020" v="25" actId="20577"/>
          <ac:spMkLst>
            <pc:docMk/>
            <pc:sldMk cId="3590843002" sldId="267"/>
            <ac:spMk id="3" creationId="{42724123-E15B-FB50-0ECD-A6FEF9771F64}"/>
          </ac:spMkLst>
        </pc:spChg>
        <pc:picChg chg="add mod">
          <ac:chgData name="Amruta Deshpande" userId="785e4c8de5c584d9" providerId="LiveId" clId="{9D9164E9-2A41-46A7-9707-4556E34176B5}" dt="2026-10-15T09:31:24.548" v="14" actId="1076"/>
          <ac:picMkLst>
            <pc:docMk/>
            <pc:sldMk cId="3590843002" sldId="267"/>
            <ac:picMk id="5" creationId="{46E2AF60-D073-D497-E9A7-919E06CD07B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C5121-B928-48A9-BE4B-A48D2039CAE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7864D-8293-4BED-8866-FDC9266B683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CACF8-E51C-4A7C-8BAA-4D7248DA12DF}" type="slidenum">
              <a:rPr lang="en-IN" smtClean="0"/>
              <a:pPr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143000"/>
          </a:xfrm>
        </p:spPr>
        <p:txBody>
          <a:bodyPr/>
          <a:lstStyle/>
          <a:p>
            <a:r>
              <a:rPr lang="en-US" dirty="0"/>
              <a:t>Interaction and Decoupling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control system is composed of several interacting  control loops</a:t>
            </a:r>
          </a:p>
          <a:p>
            <a:r>
              <a:rPr lang="en-US" dirty="0"/>
              <a:t>The number of feasible alternative configuration of control loop is very large.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7126-EDD6-1A34-A088-80ADD4F3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Non Interacting and decoupling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83AB5-EF0A-133B-F95B-F7A524195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Important goal of multivariable control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01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8DBC0-1AE8-7B4B-D610-A10AD79DA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: Reactor and Flasher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236BA-88AF-E79F-17FD-A0F2F02D8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828800"/>
            <a:ext cx="6650892" cy="487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3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851EC-4A25-44EF-214A-3CB3E3B49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 Interacting Level Control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F9BB74-25BD-9627-E98E-35DF8C86F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8921" y="1676400"/>
            <a:ext cx="730615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24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7C15-A053-7ADB-3F1A-45B75FC6F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Generalization of non interacting Control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AB2B25-B04A-06B2-4DB2-A111E4A98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04" y="1905000"/>
            <a:ext cx="7486095" cy="426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463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5E6E-A3DD-864E-F719-256868148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BE9FC-D911-0BF9-6BEE-F15C0D28C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two-input, two-output multivariable process has the following steady-state gain matrix: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714C7E-15EA-25F3-167C-944C2D182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2678854"/>
            <a:ext cx="2438400" cy="11484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D0F29B-0034-49A5-A5E4-3A2A484F7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45381"/>
            <a:ext cx="4477141" cy="159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568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3021-87EC-CA2E-BA36-E40732C40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89B71-FF0E-6872-1EAC-3557F5478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Answer the following:</a:t>
            </a:r>
          </a:p>
          <a:p>
            <a:pPr marL="514350" indent="-514350">
              <a:buAutoNum type="alphaLcParenBoth"/>
            </a:pPr>
            <a:r>
              <a:rPr lang="en-US" dirty="0"/>
              <a:t>Explain process interaction and identify the effect of the off-diagonal elements. </a:t>
            </a:r>
          </a:p>
          <a:p>
            <a:pPr marL="514350" indent="-514350">
              <a:buAutoNum type="alphaLcParenBoth"/>
            </a:pPr>
            <a:r>
              <a:rPr lang="en-US" dirty="0"/>
              <a:t>Calculate the Relative Gain Array (RGA) and suggest suitable input-output pairings. </a:t>
            </a:r>
          </a:p>
          <a:p>
            <a:pPr marL="514350" indent="-514350">
              <a:buAutoNum type="alphaLcParenBoth"/>
            </a:pPr>
            <a:r>
              <a:rPr lang="en-US" dirty="0"/>
              <a:t>Determine the steady-state decoupler matrix to reduce interaction between the two control loops </a:t>
            </a:r>
          </a:p>
          <a:p>
            <a:pPr marL="514350" indent="-514350">
              <a:buAutoNum type="alphaLcParenBoth"/>
            </a:pPr>
            <a:r>
              <a:rPr lang="en-US" dirty="0"/>
              <a:t>Draw a generalized block diagram of a two-input, two-output decoupled control system.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49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CB12-C1C1-B3C8-BA48-0260EBE99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24123-E15B-FB50-0ECD-A6FEF9771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Relative Gain Array (RGA)</a:t>
            </a:r>
          </a:p>
          <a:p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where о</a:t>
            </a:r>
            <a:r>
              <a:rPr lang="en-IN" sz="1800" b="1" dirty="0"/>
              <a:t> </a:t>
            </a:r>
            <a:r>
              <a:rPr lang="en-IN" sz="1800" dirty="0"/>
              <a:t>denotes element-by-element multiplication.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2AF60-D073-D497-E9A7-919E06CD0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286000"/>
            <a:ext cx="3003392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4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Loop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2057400"/>
            <a:ext cx="4191000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2514600"/>
            <a:ext cx="36290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140</Words>
  <Application>Microsoft Office PowerPoint</Application>
  <PresentationFormat>On-screen Show (4:3)</PresentationFormat>
  <Paragraphs>27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Interaction and Decoupling</vt:lpstr>
      <vt:lpstr>Interaction</vt:lpstr>
      <vt:lpstr>Non Interacting and decoupling Control</vt:lpstr>
      <vt:lpstr>Example : Reactor and Flasher</vt:lpstr>
      <vt:lpstr>Non Interacting Level Control</vt:lpstr>
      <vt:lpstr>Generalization of non interacting Control</vt:lpstr>
      <vt:lpstr>Questions</vt:lpstr>
      <vt:lpstr>PowerPoint Presentation</vt:lpstr>
      <vt:lpstr>PowerPoint Presentation</vt:lpstr>
      <vt:lpstr>Open Loop</vt:lpstr>
      <vt:lpstr>Close Loop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Interaction and Decoupling</dc:title>
  <dc:creator>Administrator</dc:creator>
  <cp:lastModifiedBy>Amruta Deshpande</cp:lastModifiedBy>
  <cp:revision>2</cp:revision>
  <dcterms:created xsi:type="dcterms:W3CDTF">2006-08-16T00:00:00Z</dcterms:created>
  <dcterms:modified xsi:type="dcterms:W3CDTF">2026-10-15T09:50:19Z</dcterms:modified>
</cp:coreProperties>
</file>